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63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5486400" cy="5486400"/>
          </a:xfrm>
          <a:prstGeom prst="ellipse">
            <a:avLst/>
          </a:prstGeom>
          <a:solidFill>
            <a:srgbClr val="0D6E6E">
              <a:alpha val="30000"/>
            </a:srgbClr>
          </a:solidFill>
          <a:ln w="6350">
            <a:solidFill>
              <a:srgbClr val="00C9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E3A8A">
              <a:alpha val="25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685800"/>
            <a:ext cx="1097280" cy="1097280"/>
          </a:xfrm>
          <a:prstGeom prst="ellipse">
            <a:avLst/>
          </a:prstGeom>
          <a:solidFill>
            <a:srgbClr val="00C9A7">
              <a:alpha val="60000"/>
            </a:srgbClr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94560" y="685800"/>
            <a:ext cx="1097280" cy="1097280"/>
          </a:xfrm>
          <a:prstGeom prst="ellipse">
            <a:avLst/>
          </a:prstGeom>
          <a:solidFill>
            <a:srgbClr val="FF6B35">
              <a:alpha val="6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Foundations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Modern Delivery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Agile · SRE · Jenkins · Secure Pipelines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00C9A7">
              <a:alpha val="25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Principles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2004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FF6B35">
              <a:alpha val="25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200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Lifecycle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32004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7B61FF">
              <a:alpha val="25000"/>
            </a:srgbClr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0" y="3200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vs DevOps vs SRE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FFD166">
              <a:alpha val="25000"/>
            </a:srgbClr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39776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EF476F">
              <a:alpha val="25000"/>
            </a:srgbClr>
          </a:solidFill>
          <a:ln w="1905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0" y="3977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Pipelines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1371600"/>
            <a:ext cx="640080" cy="2286000"/>
          </a:xfrm>
          <a:prstGeom prst="roundRect">
            <a:avLst>
              <a:gd name="adj" fmla="val 11429"/>
            </a:avLst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137160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25712" y="1371600"/>
            <a:ext cx="640080" cy="2286000"/>
          </a:xfrm>
          <a:prstGeom prst="roundRect">
            <a:avLst>
              <a:gd name="adj" fmla="val 11429"/>
            </a:avLst>
          </a:prstGeom>
          <a:solidFill>
            <a:srgbClr val="FF6B35">
              <a:alpha val="4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25712" y="137160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838944" y="1371600"/>
            <a:ext cx="640080" cy="2286000"/>
          </a:xfrm>
          <a:prstGeom prst="roundRect">
            <a:avLst>
              <a:gd name="adj" fmla="val 11429"/>
            </a:avLst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38944" y="137160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552176" y="1371600"/>
            <a:ext cx="640080" cy="2286000"/>
          </a:xfrm>
          <a:prstGeom prst="roundRect">
            <a:avLst>
              <a:gd name="adj" fmla="val 11429"/>
            </a:avLst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52176" y="137160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265408" y="1371600"/>
            <a:ext cx="640080" cy="2286000"/>
          </a:xfrm>
          <a:prstGeom prst="roundRect">
            <a:avLst>
              <a:gd name="adj" fmla="val 11429"/>
            </a:avLst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265408" y="137160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Principles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Through Real Delivery Workflows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4572000" cy="2743200"/>
          </a:xfrm>
          <a:prstGeom prst="ellipse">
            <a:avLst/>
          </a:prstGeom>
          <a:solidFill>
            <a:srgbClr val="00C9A7">
              <a:alpha val="12000"/>
            </a:srgbClr>
          </a:solidFill>
          <a:ln w="381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0" y="1371600"/>
            <a:ext cx="4572000" cy="2743200"/>
          </a:xfrm>
          <a:prstGeom prst="ellipse">
            <a:avLst/>
          </a:prstGeom>
          <a:solidFill>
            <a:srgbClr val="7B61FF">
              <a:alpha val="12000"/>
            </a:srgbClr>
          </a:solidFill>
          <a:ln w="381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1508760"/>
            <a:ext cx="914400" cy="411480"/>
          </a:xfrm>
          <a:prstGeom prst="ellipse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914400" cy="411480"/>
          </a:xfrm>
          <a:prstGeom prst="ellipse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3337560"/>
            <a:ext cx="914400" cy="411480"/>
          </a:xfrm>
          <a:prstGeom prst="ellipse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3794760"/>
            <a:ext cx="914400" cy="411480"/>
          </a:xfrm>
          <a:prstGeom prst="ellipse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0" y="3794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1508760"/>
            <a:ext cx="1005840" cy="411480"/>
          </a:xfrm>
          <a:prstGeom prst="ellipse">
            <a:avLst/>
          </a:prstGeom>
          <a:solidFill>
            <a:srgbClr val="7B61FF">
              <a:alpha val="60000"/>
            </a:srgbClr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06640" y="1508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55280" y="2423160"/>
            <a:ext cx="1005840" cy="411480"/>
          </a:xfrm>
          <a:prstGeom prst="ellipse">
            <a:avLst/>
          </a:prstGeom>
          <a:solidFill>
            <a:srgbClr val="7B61FF">
              <a:alpha val="60000"/>
            </a:srgbClr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0" y="2423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3337560"/>
            <a:ext cx="1005840" cy="411480"/>
          </a:xfrm>
          <a:prstGeom prst="ellipse">
            <a:avLst/>
          </a:prstGeom>
          <a:solidFill>
            <a:srgbClr val="7B61FF">
              <a:alpha val="60000"/>
            </a:srgbClr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33375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3794760"/>
            <a:ext cx="1005840" cy="411480"/>
          </a:xfrm>
          <a:prstGeom prst="ellipse">
            <a:avLst/>
          </a:prstGeom>
          <a:solidFill>
            <a:srgbClr val="7B61FF">
              <a:alpha val="60000"/>
            </a:srgbClr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3794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1945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846320" y="2834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0" y="118872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1E2D4A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35440" y="1389888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8408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silos. Shared responsibility between Dev &amp; Ops teams.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00" y="214884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1E2D4A"/>
          </a:solidFill>
          <a:ln w="254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35440" y="2350008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78408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builds, tests, deployments, infra provisioning.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144000" y="310896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1E2D4A"/>
          </a:solidFill>
          <a:ln w="2540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35440" y="3310128"/>
            <a:ext cx="411480" cy="4114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84080" y="3108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8408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DORA metrics: lead time, MTTR, deployment frequency.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144000" y="406908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1E2D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235440" y="4270248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784080" y="4069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78408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postmortems. Open feedback loops. Knowledge sharing.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Lifecycle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Mapped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00C9A7">
              <a:alpha val="70000"/>
            </a:srgbClr>
          </a:solidFill>
          <a:ln w="3175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051560"/>
            <a:ext cx="365760" cy="365760"/>
          </a:xfrm>
          <a:prstGeom prst="ellipse">
            <a:avLst/>
          </a:prstGeom>
          <a:solidFill>
            <a:srgbClr val="00C9A7"/>
          </a:solidFill>
          <a:ln w="25400">
            <a:solidFill>
              <a:srgbClr val="0F16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920240"/>
            <a:ext cx="50292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17922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118872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FF6B35">
              <a:alpha val="70000"/>
            </a:srgbClr>
          </a:solidFill>
          <a:ln w="3175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365760" cy="36576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0F16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920240"/>
            <a:ext cx="50292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94760" y="17922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118872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FFD166">
              <a:alpha val="70000"/>
            </a:srgbClr>
          </a:solidFill>
          <a:ln w="3175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06240" y="1051560"/>
            <a:ext cx="365760" cy="365760"/>
          </a:xfrm>
          <a:prstGeom prst="ellipse">
            <a:avLst/>
          </a:prstGeom>
          <a:solidFill>
            <a:srgbClr val="FFD166"/>
          </a:solidFill>
          <a:ln w="25400">
            <a:solidFill>
              <a:srgbClr val="0F16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920240"/>
            <a:ext cx="50292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0" y="17922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118872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7B61FF">
              <a:alpha val="70000"/>
            </a:srgbClr>
          </a:solidFill>
          <a:ln w="3175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97880" y="1051560"/>
            <a:ext cx="365760" cy="365760"/>
          </a:xfrm>
          <a:prstGeom prst="ellipse">
            <a:avLst/>
          </a:prstGeom>
          <a:solidFill>
            <a:srgbClr val="7B61FF"/>
          </a:solidFill>
          <a:ln w="25400">
            <a:solidFill>
              <a:srgbClr val="0F16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978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1920240"/>
            <a:ext cx="50292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8040" y="17922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118872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0EA5E9">
              <a:alpha val="70000"/>
            </a:srgbClr>
          </a:solidFill>
          <a:ln w="3175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89520" y="1051560"/>
            <a:ext cx="365760" cy="36576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0F16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895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1920240"/>
            <a:ext cx="50292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869680" y="17922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32520" y="118872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06D6A0">
              <a:alpha val="70000"/>
            </a:srgbClr>
          </a:solidFill>
          <a:ln w="3175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81160" y="1051560"/>
            <a:ext cx="365760" cy="365760"/>
          </a:xfrm>
          <a:prstGeom prst="ellipse">
            <a:avLst/>
          </a:prstGeom>
          <a:solidFill>
            <a:srgbClr val="06D6A0"/>
          </a:solidFill>
          <a:ln w="25400">
            <a:solidFill>
              <a:srgbClr val="0F16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811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3252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95560" y="1920240"/>
            <a:ext cx="50292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561320" y="17922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424160" y="118872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F59E0B">
              <a:alpha val="70000"/>
            </a:srgbClr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972800" y="1051560"/>
            <a:ext cx="365760" cy="36576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F16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9728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971800"/>
            <a:ext cx="3749040" cy="1874520"/>
          </a:xfrm>
          <a:prstGeom prst="roundRect">
            <a:avLst>
              <a:gd name="adj" fmla="val 4878"/>
            </a:avLst>
          </a:prstGeom>
          <a:solidFill>
            <a:srgbClr val="1E2D4A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4048" y="349300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6928" y="34472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Git branch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4048" y="381304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6928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triggers Jenkins/CI pipeline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84048" y="413308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6928" y="40873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resolved &amp; compiled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84048" y="4453128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66928" y="44074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run automatically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51960" y="2971800"/>
            <a:ext cx="3749040" cy="1874520"/>
          </a:xfrm>
          <a:prstGeom prst="roundRect">
            <a:avLst>
              <a:gd name="adj" fmla="val 4878"/>
            </a:avLst>
          </a:prstGeom>
          <a:solidFill>
            <a:srgbClr val="1E2D4A"/>
          </a:solidFill>
          <a:ln w="1905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3434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Management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361688" y="3493008"/>
            <a:ext cx="118872" cy="1188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44568" y="34472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 &amp; tagged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361688" y="3813048"/>
            <a:ext cx="118872" cy="1188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44568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registry (ECR / Nexus)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61688" y="4133088"/>
            <a:ext cx="118872" cy="1188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44568" y="40873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with commit SHA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361688" y="4453128"/>
            <a:ext cx="118872" cy="1188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44568" y="44074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for integrity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229600" y="2971800"/>
            <a:ext cx="3749040" cy="1874520"/>
          </a:xfrm>
          <a:prstGeom prst="roundRect">
            <a:avLst>
              <a:gd name="adj" fmla="val 4878"/>
            </a:avLst>
          </a:prstGeom>
          <a:solidFill>
            <a:srgbClr val="1E2D4A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321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339328" y="3493008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522208" y="34472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Staging: smoke tests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339328" y="3813048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522208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or Canary rollout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339328" y="4133088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522208" y="40873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 on failure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339328" y="4453128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522208" y="44074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gate: approval + health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4320" y="489204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74320" y="4892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Code → Test → Artifact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566160" y="489204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566160" y="4892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CD: Staging → Approval → Production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858000" y="489204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858000" y="4892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Alerts → Metrics → Feedback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vs DevOps vs SRE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Real Team Models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1E2D4A"/>
          </a:solidFill>
          <a:ln w="3175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749040" cy="658368"/>
          </a:xfrm>
          <a:prstGeom prst="roundRect">
            <a:avLst>
              <a:gd name="adj" fmla="val 16667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792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34440" y="1792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Delivery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2724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044952"/>
            <a:ext cx="3474720" cy="0"/>
          </a:xfrm>
          <a:prstGeom prst="line">
            <a:avLst/>
          </a:prstGeom>
          <a:noFill/>
          <a:ln w="6350">
            <a:solidFill>
              <a:srgbClr val="00C9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Practices: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" y="341985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Backlog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768" y="367588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9768" y="393192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895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9768" y="418795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4151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9768" y="444398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4407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/ Kanban boards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9194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00C9A7">
              <a:alpha val="3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0020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00C9A7">
              <a:alpha val="3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0020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Burndown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8892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00C9A7">
              <a:alpha val="3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8892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60520" y="105156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1E2D4A"/>
          </a:solidFill>
          <a:ln w="3175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60520" y="1051560"/>
            <a:ext cx="3749040" cy="658368"/>
          </a:xfrm>
          <a:prstGeom prst="roundRect">
            <a:avLst>
              <a:gd name="adj" fmla="val 16667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60520" y="10515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297680" y="1792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1792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Ops (Cross-functional)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0" y="2103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Pipeline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97680" y="24140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97680" y="27249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2724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Software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97680" y="3044952"/>
            <a:ext cx="3474720" cy="0"/>
          </a:xfrm>
          <a:prstGeom prst="line">
            <a:avLst/>
          </a:prstGeom>
          <a:noFill/>
          <a:ln w="635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9768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Practices: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15968" y="3419856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453128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15968" y="367588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453128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(Terraform/Ansible)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15968" y="3931920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453128" y="3895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15968" y="4187952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453128" y="4151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315968" y="4443984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453128" y="4407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297680" y="49194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9768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29768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48640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8640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67512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67512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046720" y="105156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1E2D4A"/>
          </a:solidFill>
          <a:ln w="3175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046720" y="1051560"/>
            <a:ext cx="3749040" cy="658368"/>
          </a:xfrm>
          <a:prstGeom prst="roundRect">
            <a:avLst>
              <a:gd name="adj" fmla="val 16667"/>
            </a:avLst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046720" y="10515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183880" y="1792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006840" y="1792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Reliability Team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183880" y="2103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00684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Reliability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183880" y="24140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00684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/ Incident-driven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83880" y="27249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006840" y="2724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Services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183880" y="3044952"/>
            <a:ext cx="3474720" cy="0"/>
          </a:xfrm>
          <a:prstGeom prst="line">
            <a:avLst/>
          </a:prstGeom>
          <a:noFill/>
          <a:ln w="6350">
            <a:solidFill>
              <a:srgbClr val="7B61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818388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Practices: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202168" y="3419856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339328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/ SLIs / Error Budgets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202168" y="3675888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339328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reduction (automation)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202168" y="3931920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339328" y="3895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202168" y="4187952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339328" y="4151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202168" y="4443984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339328" y="4407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183880" y="49194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18388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18388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Compliance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37260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937260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561320" y="5120640"/>
            <a:ext cx="1143000" cy="201168"/>
          </a:xfrm>
          <a:prstGeom prst="roundRect">
            <a:avLst>
              <a:gd name="adj" fmla="val 22727"/>
            </a:avLst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0561320" y="5120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%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27432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COMPLEMENT each other →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274320" y="56692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builds features fast   ·   DevOps ships them reliably   ·   SRE keeps them running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Pipeline Mapping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00C9A7">
              <a:alpha val="75000"/>
            </a:srgbClr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1344168"/>
            <a:ext cx="41148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24912" y="12161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0972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F6B35">
              <a:alpha val="75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1097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344168"/>
            <a:ext cx="41148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56632" y="12161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8288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5146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0" y="2514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32004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5176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0972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FD166">
              <a:alpha val="75000"/>
            </a:srgbClr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097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1344168"/>
            <a:ext cx="41148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88352" y="12161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18288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25146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2514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32004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69480" y="10972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7B61FF">
              <a:alpha val="75000"/>
            </a:srgbClr>
          </a:solidFill>
          <a:ln w="254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69480" y="1097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464040" y="1344168"/>
            <a:ext cx="41148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720072" y="12161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0" y="18288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0" y="25146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0" y="2514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32004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601200" y="10972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0EA5E9">
              <a:alpha val="75000"/>
            </a:srgbClr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601200" y="1097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646920" y="18288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64692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46920" y="25146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46920" y="2514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46920" y="32004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2D4A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64692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74904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6D6A0">
              <a:alpha val="75000"/>
            </a:srgbClr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3749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971800" y="3995928"/>
            <a:ext cx="50292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46120" y="38679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436168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43616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86460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5760" y="4864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536752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" y="5367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00400" y="374904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FF6B35">
              <a:alpha val="75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00400" y="3749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897880" y="3995928"/>
            <a:ext cx="50292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172200" y="38679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91840" y="436168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291840" y="43616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91840" y="486460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291840" y="4864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AWS/GCP/Azure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91840" y="536752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291840" y="5367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126480" y="374904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F59E0B">
              <a:alpha val="75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126480" y="3749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823960" y="3995928"/>
            <a:ext cx="502920" cy="0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098280" y="38679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217920" y="436168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217920" y="43616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217920" y="486460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217920" y="4864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217920" y="536752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217920" y="5367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052560" y="374904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EF476F">
              <a:alpha val="75000"/>
            </a:srgbClr>
          </a:solidFill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052560" y="3749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144000" y="436168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144000" y="43616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144000" y="486460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144000" y="4864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9144000" y="5367528"/>
            <a:ext cx="2514600" cy="438912"/>
          </a:xfrm>
          <a:prstGeom prst="roundRect">
            <a:avLst>
              <a:gd name="adj" fmla="val 16667"/>
            </a:avLst>
          </a:prstGeom>
          <a:solidFill>
            <a:srgbClr val="162038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144000" y="5367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Alerts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74320" y="594360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74320" y="5943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Continuous Integration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743200" y="5943600"/>
            <a:ext cx="2743200" cy="228600"/>
          </a:xfrm>
          <a:prstGeom prst="roundRect">
            <a:avLst>
              <a:gd name="adj" fmla="val 20000"/>
            </a:avLst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743200" y="5943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Continuous Deployment &amp; Operations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Freestyle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Design &amp; Execution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75520" y="13716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CC3428">
              <a:alpha val="70000"/>
            </a:srgbClr>
          </a:solidFill>
          <a:ln w="19050">
            <a:solidFill>
              <a:srgbClr val="CC34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0" y="137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🤵 Jenkins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E2D4A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Checkout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5819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from repo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Branch: main / feature/*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E2D4A"/>
          </a:solidFill>
          <a:ln w="254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62272" y="12618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62272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Trigger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5819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/ Poll SCM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Schedule: H/5 * * * *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E2D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4963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468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Pre-Build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8163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environment variables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workspace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242316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E2D4A"/>
          </a:solidFill>
          <a:ln w="2540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62272" y="24963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62272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2468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(Shell/Batch)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8163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 install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app:$BUILD_ID 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E2D4A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373075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703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Post-Build Actions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0507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 artifacts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 test results (JUnit)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89120" y="365760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E2D4A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62272" y="373075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62272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83480" y="3703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40507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/ Slack on failure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build status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29600" y="1143000"/>
            <a:ext cx="3840480" cy="42976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(Declarative)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321040" y="1490472"/>
            <a:ext cx="3657600" cy="0"/>
          </a:xfrm>
          <a:prstGeom prst="line">
            <a:avLst/>
          </a:prstGeom>
          <a:noFill/>
          <a:ln w="6350">
            <a:solidFill>
              <a:srgbClr val="00C9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21040" y="153619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321040" y="168249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any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321040" y="182880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 {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321040" y="197510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stage('Checkout') {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321040" y="212140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21040" y="226771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git 'https://repo.git'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321040" y="24140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321040" y="256032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stage('Build') {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321040" y="27066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321040" y="285292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 'mvn clean install'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321040" y="299923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321040" y="314553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stage('Test') {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321040" y="329184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321040" y="343814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 'mvn test'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321040" y="35844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321040" y="37307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stage('Deploy') {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321040" y="387705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321040" y="40233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 './deploy.sh'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321040" y="41696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}}}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229600" y="5532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6D6A0">
              <a:alpha val="3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229600" y="5532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SUCCESS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509760" y="5532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FFD166">
              <a:alpha val="3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509760" y="5532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UNSTABLE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789920" y="5532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EF476F">
              <a:alpha val="35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0789920" y="5532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FAILED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Pipelines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Environment Separation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108960"/>
          </a:xfrm>
          <a:prstGeom prst="roundRect">
            <a:avLst>
              <a:gd name="adj" fmla="val 4412"/>
            </a:avLst>
          </a:prstGeom>
          <a:solidFill>
            <a:srgbClr val="00C9A7">
              <a:alpha val="10000"/>
            </a:srgbClr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657600" cy="594360"/>
          </a:xfrm>
          <a:prstGeom prst="roundRect">
            <a:avLst>
              <a:gd name="adj" fmla="val 23077"/>
            </a:avLst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sandbox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deployments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credentials (non-prod)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889504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enabled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tools active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694176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94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external APIs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1005840"/>
            <a:ext cx="3657600" cy="3108960"/>
          </a:xfrm>
          <a:prstGeom prst="roundRect">
            <a:avLst>
              <a:gd name="adj" fmla="val 4412"/>
            </a:avLst>
          </a:prstGeom>
          <a:solidFill>
            <a:srgbClr val="FF6B35">
              <a:alpha val="1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0" y="1005840"/>
            <a:ext cx="3657600" cy="594360"/>
          </a:xfrm>
          <a:prstGeom prst="roundRect">
            <a:avLst>
              <a:gd name="adj" fmla="val 23077"/>
            </a:avLst>
          </a:prstGeom>
          <a:solidFill>
            <a:srgbClr val="FF6B35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0" y="1005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51960" y="1691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 mirror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248716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960" y="2487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secrets (Vault)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51960" y="2889504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51960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 gate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3291840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5196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3694176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51960" y="3694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QA Lead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55280" y="1005840"/>
            <a:ext cx="3657600" cy="3108960"/>
          </a:xfrm>
          <a:prstGeom prst="roundRect">
            <a:avLst>
              <a:gd name="adj" fmla="val 4412"/>
            </a:avLst>
          </a:prstGeom>
          <a:solidFill>
            <a:srgbClr val="EF476F">
              <a:alpha val="10000"/>
            </a:srgbClr>
          </a:solidFill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55280" y="1005840"/>
            <a:ext cx="3657600" cy="594360"/>
          </a:xfrm>
          <a:prstGeom prst="roundRect">
            <a:avLst>
              <a:gd name="adj" fmla="val 23077"/>
            </a:avLst>
          </a:prstGeom>
          <a:solidFill>
            <a:srgbClr val="EF476F">
              <a:alpha val="7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55280" y="1005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92440" y="1691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environment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required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92440" y="248716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92440" y="2487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secrets (HSM/Vault)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92440" y="2889504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92440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IP allowlist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92440" y="3291840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9244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Release Mgr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92440" y="3694176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1E2D4A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92440" y="3694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31920" y="2560320"/>
            <a:ext cx="18288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0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0332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772400" y="2560320"/>
            <a:ext cx="182880" cy="0"/>
          </a:xfrm>
          <a:prstGeom prst="line">
            <a:avLst/>
          </a:prstGeom>
          <a:noFill/>
          <a:ln w="3175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680960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4380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 Controls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457200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1E2D4A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1520" y="46268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4048" y="50109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 / AWS Secrets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in code/env files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55264" y="457200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1E2D4A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55264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712464" y="46268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/ DAST Scanning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64992" y="50109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SonarQube, Snyk, OWASP ZAP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pipeline on critical CVEs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36208" y="457200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1E2D4A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36208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693408" y="46268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45936" y="50109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/ Notary v2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image digest before deploy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217152" y="457200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1E2D4A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217152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9674352" y="46268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on Pipelines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326880" y="50109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Dev / QA / Release Mgr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per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DevOps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1E2D4A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2066544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06654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2066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(multiple/day)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633472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97280" y="2633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3200400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767328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EF476F">
              <a:alpha val="3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months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55264" y="109728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1E2D4A"/>
          </a:solidFill>
          <a:ln w="2540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55264" y="1115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55264" y="1536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Change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4992" y="2066544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92424" y="206654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78224" y="2066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64992" y="2633472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92424" y="26334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78224" y="2633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week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64992" y="3200400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92424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078224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1-6 months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64992" y="3767328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EF476F">
              <a:alpha val="3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92424" y="37673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78224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 months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36208" y="109728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1E2D4A"/>
          </a:solidFill>
          <a:ln w="25400">
            <a:solidFill>
              <a:srgbClr val="7B61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36208" y="1115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36208" y="1536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(Recovery Time)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45936" y="2066544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73368" y="206654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59168" y="2066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45936" y="2633472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73368" y="26334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59168" y="2633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45936" y="3200400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73368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59168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week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45936" y="3767328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EF476F">
              <a:alpha val="3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73368" y="37673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059168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 months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217152" y="109728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1E2D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217152" y="1115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217152" y="1536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326880" y="2066544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354312" y="206654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0040112" y="2066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0-15%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326880" y="2633472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354312" y="26334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040112" y="2633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0-15%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326880" y="3200400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354312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040112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0-45%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326880" y="3767328"/>
            <a:ext cx="2615184" cy="502920"/>
          </a:xfrm>
          <a:prstGeom prst="roundRect">
            <a:avLst>
              <a:gd name="adj" fmla="val 12727"/>
            </a:avLst>
          </a:prstGeom>
          <a:solidFill>
            <a:srgbClr val="EF476F">
              <a:alpha val="3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354312" y="37673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040112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45%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7432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20040" y="5056632"/>
            <a:ext cx="118872" cy="118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02920" y="501091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culture first, tools second — break the Dev/Ops wall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0040" y="5340096"/>
            <a:ext cx="118872" cy="1188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02920" y="5294376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automates the path from commit to production reliably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" y="5623560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02920" y="557784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orchestrates your pipeline; Jenkinsfile makes it code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20040" y="5907024"/>
            <a:ext cx="118872" cy="11887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02920" y="5861304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pipelines: scan early, manage secrets, gate environments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0040" y="6190488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02920" y="614476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DORA metrics to know if you're truly improving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918</Words>
  <Application>Microsoft Office PowerPoint</Application>
  <PresentationFormat>Widescreen</PresentationFormat>
  <Paragraphs>349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Foundations &amp; Modern Delivery</dc:title>
  <dc:subject>PptxGenJS Presentation</dc:subject>
  <dc:creator>PptxGenJS</dc:creator>
  <cp:lastModifiedBy>adi polisetty</cp:lastModifiedBy>
  <cp:revision>2</cp:revision>
  <dcterms:created xsi:type="dcterms:W3CDTF">2026-06-27T08:03:21Z</dcterms:created>
  <dcterms:modified xsi:type="dcterms:W3CDTF">2026-06-27T08:12:11Z</dcterms:modified>
</cp:coreProperties>
</file>